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  <p:sldMasterId id="2147483663" r:id="rId3"/>
  </p:sldMasterIdLst>
  <p:notesMasterIdLst>
    <p:notesMasterId r:id="rId4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9144000" cy="6858000" type="screen4x3"/>
  <p:notesSz cx="6858000" cy="9144000"/>
  <p:embeddedFontLst>
    <p:embeddedFont>
      <p:font typeface="Arial Narrow" panose="020B0606020202030204" pitchFamily="34" charset="0"/>
      <p:regular r:id="rId49"/>
      <p:bold r:id="rId50"/>
      <p:italic r:id="rId51"/>
      <p:boldItalic r:id="rId52"/>
    </p:embeddedFont>
    <p:embeddedFont>
      <p:font typeface="Arimo" panose="020B060402020202020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4668C0-BE3F-46A0-8B2B-301ED11A7C95}">
  <a:tblStyle styleId="{D54668C0-BE3F-46A0-8B2B-301ED11A7C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font" Target="fonts/font5.fntdata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5.xml"/><Relationship Id="rId51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.fntdata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font" Target="fonts/font4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524288"/>
            <a:headEnd type="none" w="sm" len="sm"/>
            <a:tailEnd type="none" w="sm" len="sm"/>
          </a:ln>
        </p:spPr>
      </p:sp>
      <p:sp>
        <p:nvSpPr>
          <p:cNvPr id="253" name="Google Shape;25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>
                <a:solidFill>
                  <a:schemeClr val="dk1"/>
                </a:solidFill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>
                <a:solidFill>
                  <a:schemeClr val="dk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>
                <a:solidFill>
                  <a:schemeClr val="dk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>
                <a:solidFill>
                  <a:schemeClr val="dk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387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 rot="5400000">
            <a:off x="4867275" y="2124075"/>
            <a:ext cx="60198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 rot="5400000">
            <a:off x="638175" y="123825"/>
            <a:ext cx="6019800" cy="6076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 rot="5400000">
            <a:off x="2309813" y="-433387"/>
            <a:ext cx="4905375" cy="83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14325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Font typeface="Times New Roman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–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8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body" idx="2"/>
          </p:nvPr>
        </p:nvSpPr>
        <p:spPr>
          <a:xfrm>
            <a:off x="4838700" y="1266825"/>
            <a:ext cx="40767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195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»"/>
              <a:defRPr sz="18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dt" idx="10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ftr" idx="11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981200" y="2179637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6908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609600" y="6172200"/>
            <a:ext cx="3886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2667000" y="6462712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Char char="●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•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2400"/>
              <a:buFont typeface="Times New Roman"/>
              <a:buChar char="–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–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»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  <a:defRPr sz="1800" b="0" i="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Char char="●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•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2400"/>
              <a:buFont typeface="Times New Roman"/>
              <a:buChar char="–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–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»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12255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1981200" y="2179637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6908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609600" y="6172200"/>
            <a:ext cx="3886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2667000" y="6462712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1981200" y="2179637"/>
            <a:ext cx="190500" cy="467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9088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609600" y="6172200"/>
            <a:ext cx="3886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2667000" y="6462712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" name="Google Shape;86;p15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87" name="Google Shape;87;p15"/>
            <p:cNvSpPr txBox="1"/>
            <p:nvPr/>
          </p:nvSpPr>
          <p:spPr>
            <a:xfrm>
              <a:off x="0" y="0"/>
              <a:ext cx="5760" cy="535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0" y="3147"/>
              <a:ext cx="5760" cy="1173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chemeClr val="folHlink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5"/>
          <p:cNvSpPr txBox="1"/>
          <p:nvPr/>
        </p:nvSpPr>
        <p:spPr>
          <a:xfrm>
            <a:off x="463550" y="2700337"/>
            <a:ext cx="161925" cy="4157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Char char="●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•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2400"/>
              <a:buFont typeface="Times New Roman"/>
              <a:buChar char="–"/>
              <a:defRPr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–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A50021"/>
              </a:buClr>
              <a:buSzPts val="2000"/>
              <a:buFont typeface="Times New Roman"/>
              <a:buChar char="»"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Times New Roman"/>
              <a:buChar char="»"/>
              <a:defRPr sz="1800" b="1" i="0" u="none" strike="noStrike" cap="none">
                <a:solidFill>
                  <a:srgbClr val="FFFF9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609600" y="15240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dt" idx="10"/>
          </p:nvPr>
        </p:nvSpPr>
        <p:spPr>
          <a:xfrm>
            <a:off x="12954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ftr" idx="11"/>
          </p:nvPr>
        </p:nvSpPr>
        <p:spPr>
          <a:xfrm>
            <a:off x="3733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ldNum" idx="12"/>
          </p:nvPr>
        </p:nvSpPr>
        <p:spPr>
          <a:xfrm>
            <a:off x="7162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Narrow"/>
              <a:buNone/>
              <a:defRPr sz="1400" b="0" i="0" u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Basic Docker commands</a:t>
            </a: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INT332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650081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3840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--version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version 18.09.6, build 481bc77</a:t>
            </a:r>
            <a:endParaRPr/>
          </a:p>
        </p:txBody>
      </p:sp>
      <p:pic>
        <p:nvPicPr>
          <p:cNvPr id="111" name="Google Shape;11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500812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6357937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Docker info</a:t>
            </a:r>
            <a:br>
              <a:rPr lang="en-US" sz="20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detailed information about docker installed on the system including the kernel version, number of containers and images, etc.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info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Containers: 3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Running: 1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Paused: 0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Stopped: 2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Images: 3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Version: 18.09.6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 Driver: overlay2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Backing Filesystem: extfs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d_type: true Native Overlay Diff: true Logging Driver: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Checking History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0" y="785812"/>
            <a:ext cx="8915400" cy="538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history of a docker image with the image name mentioned in the command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$ docker history httpd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        CREATED    CREATED BY    SIZE      COMMENT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4 .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Downloading Image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When we need to pull the docker image from dockerhub (docker repository) then ,the following example of pulling the the image and here we are taking Apache HTTP server image.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$ docker pull httpd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3071812"/>
            <a:ext cx="7058025" cy="364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1"/>
          </p:nvPr>
        </p:nvSpPr>
        <p:spPr>
          <a:xfrm>
            <a:off x="357187" y="928687"/>
            <a:ext cx="8558212" cy="214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list all the docker images pulled on the system with image details such as TAG/IMAGE ID/SIZE etc.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images</a:t>
            </a:r>
            <a:endParaRPr/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" y="2571750"/>
            <a:ext cx="77533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6.RUN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‘docker run’ 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is used to create and start a new container from a </a:t>
            </a:r>
            <a:r>
              <a:rPr lang="en-US" sz="2400" b="1" i="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image. The basic syntax of the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‘docker run’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command is as follows: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[OPTIONS] IMAGE [COMMAND] [ARG…]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where,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OPTIONS: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optional flags that configure the behaviour of the container, such as setting environment variables, mounting volumes, etc.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IMAGE: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the name of the Docker image to be run.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COMMAND: 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command to be executed when the container is started. If not provided, the default command specified in the Docker image will be used.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ARG: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optional arguments passed to the command.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 means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Options Available for executing Docker Run Command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body" idx="1"/>
          </p:nvPr>
        </p:nvSpPr>
        <p:spPr>
          <a:xfrm>
            <a:off x="357187" y="1357312"/>
            <a:ext cx="8558212" cy="4814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commonly used options for executing the docker run command inside a container: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-it: Runs the container in interactive mode, allowing you to interact with the container through the command line.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-d: Runs the container in the background.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name: Specifies a name for the container.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-- rm: Automatically removes the container when it exits.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-p: Maps a host port to a container port.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-e / --env</a:t>
            </a: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Sets an environment variable inside the container.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-v: Mounts a host volume inside the container.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: </a:t>
            </a:r>
            <a:r>
              <a:rPr lang="en-US" sz="32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a Simple Image:</a:t>
            </a:r>
            <a:br>
              <a:rPr lang="en-US" sz="32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docker run httpd echo “Hello, World!”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command runs a new container from the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httpd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image and executes the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‘echo’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command with the argument “Hello, World!”.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36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</a:t>
            </a:r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534400" cy="530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a Container with a Specific Name: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run  --name my-container httpd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1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 “Hello, World!”</a:t>
            </a: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--name : this option is to give the name of container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my-container: it is the name of container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Echo: it is the command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“hello,world!” – it is argument used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command runs a new container with the specified name “my-container” from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 and executes the echo command with the argument “Hello, World!”.</a:t>
            </a:r>
            <a:endParaRPr sz="2400" b="1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1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are Environment Variables</a:t>
            </a:r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are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key–value pairs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by applications to: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configuration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secrets (usernames, passwords)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application behavior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changing the image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variables allow us to configure containers dynamically.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19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 of environment variables in Docker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-e: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Configuration must be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hard-coded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image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to rebuild image for every change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-e: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image → different behavior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&amp; flexible configuration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Widely used in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microservices &amp; cloud deployments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36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 :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Environment:</a:t>
            </a:r>
            <a:b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body" idx="1"/>
          </p:nvPr>
        </p:nvSpPr>
        <p:spPr>
          <a:xfrm>
            <a:off x="285750" y="1143000"/>
            <a:ext cx="862965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-e MY_VAR=value httpd env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command sets an environment variable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‘MY_VAR’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to the value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“value”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and runs a new container from the 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‘httpd’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image.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The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‘env’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command is executed to display the list of environment variables in the container.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1"/>
          </p:nvPr>
        </p:nvSpPr>
        <p:spPr>
          <a:xfrm>
            <a:off x="0" y="685800"/>
            <a:ext cx="8915400" cy="670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400" b="0" i="0" u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Example: Run a container from Image and display the variable name inside it.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-it -e MY_NAME=Harpreet ubuntu bash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will open the container and you can check the env variable inside it as: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Echo $ MY_NAME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Kindly note 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MY_NAME is created inside the container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 system is not affected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 rot="10800000" flipH="1">
            <a:off x="-671512" y="-300037"/>
            <a:ext cx="9815512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•"/>
            </a:pP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MY_NAME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created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inside the container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system is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affected</a:t>
            </a:r>
            <a:endParaRPr/>
          </a:p>
        </p:txBody>
      </p:sp>
      <p:sp>
        <p:nvSpPr>
          <p:cNvPr id="187" name="Google Shape;187;p30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•"/>
            </a:pP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MY_NAME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created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inside the container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system is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affected</a:t>
            </a:r>
            <a:endParaRPr/>
          </a:p>
        </p:txBody>
      </p:sp>
      <p:sp>
        <p:nvSpPr>
          <p:cNvPr id="188" name="Google Shape;188;p30"/>
          <p:cNvSpPr txBox="1"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63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mo"/>
              <a:buChar char="•"/>
            </a:pP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MY_NAME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 created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inside the container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system is </a:t>
            </a:r>
            <a:r>
              <a:rPr lang="en-US" sz="1800" b="1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 affected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Environment Variables</a:t>
            </a:r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body" idx="1"/>
          </p:nvPr>
        </p:nvSpPr>
        <p:spPr>
          <a:xfrm>
            <a:off x="107950" y="908050"/>
            <a:ext cx="8807450" cy="63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-e APP_ENV=production -e APP_VERSION=1.0 nginx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for MySQL Container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-d 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-e MYSQL_ROOT_PASSWORD=root123 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-e MYSQL_DATABASE=college 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-e MYSQL_USER=admin 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-e MYSQL_PASSWORD=admin123 \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mysql:8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these variables, MySQL container will fail to start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26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is : Passing Environment Variable from Host System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Ex#1: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Set variable on host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export APP_PORT=8080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-e APP_PORT nginx env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3"/>
          <p:cNvSpPr txBox="1">
            <a:spLocks noGrp="1"/>
          </p:cNvSpPr>
          <p:nvPr>
            <p:ph type="title"/>
          </p:nvPr>
        </p:nvSpPr>
        <p:spPr>
          <a:xfrm>
            <a:off x="250825" y="731837"/>
            <a:ext cx="7661275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way : Using --env-file (Clean &amp; Professional Way)</a:t>
            </a:r>
            <a:endParaRPr/>
          </a:p>
        </p:txBody>
      </p:sp>
      <p:sp>
        <p:nvSpPr>
          <p:cNvPr id="206" name="Google Shape;206;p33"/>
          <p:cNvSpPr txBox="1">
            <a:spLocks noGrp="1"/>
          </p:cNvSpPr>
          <p:nvPr>
            <p:ph type="body" idx="1"/>
          </p:nvPr>
        </p:nvSpPr>
        <p:spPr>
          <a:xfrm>
            <a:off x="609600" y="1628775"/>
            <a:ext cx="8305800" cy="454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.env file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DB_HOST=localhost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DB_USER=root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DB_PASS=secret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Run container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--env-file .env myapp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4th Example</a:t>
            </a:r>
            <a:endParaRPr/>
          </a:p>
        </p:txBody>
      </p:sp>
      <p:sp>
        <p:nvSpPr>
          <p:cNvPr id="212" name="Google Shape;212;p34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run -it -d httpd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-it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flag enables interactive mode, so you can interact with the container’s command line</a:t>
            </a: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-d flag runs the container in the background and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httpd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 specifies the image name to use for the container. This command will pull the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httpd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 from Docker Hub if it is not already present on your local machine, create a container based on that image, and start it in the background.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pic>
        <p:nvPicPr>
          <p:cNvPr id="218" name="Google Shape;218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50825" y="1052512"/>
            <a:ext cx="8713787" cy="5545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 optional flag in run command</a:t>
            </a:r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533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 stands for </a:t>
            </a:r>
            <a:r>
              <a:rPr lang="en-US" sz="2400" b="1" i="1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 port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maps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on your host machine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inside the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simple words: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 allows users outside the container to access an application running inside the container.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default: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Containers run in an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isolated network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inside containers are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accessible from the host/browser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if a web server is running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you </a:t>
            </a: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expose it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-p.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 of –p </a:t>
            </a:r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body" idx="1"/>
          </p:nvPr>
        </p:nvSpPr>
        <p:spPr>
          <a:xfrm>
            <a:off x="250825" y="908050"/>
            <a:ext cx="8664575" cy="526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-p &lt;HOST_PORT&gt;:&lt;CONTAINER_PORT&gt; IMAGE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1" name="Google Shape;231;p37"/>
          <p:cNvGraphicFramePr/>
          <p:nvPr/>
        </p:nvGraphicFramePr>
        <p:xfrm>
          <a:off x="207962" y="2060575"/>
          <a:ext cx="8305800" cy="1098240"/>
        </p:xfrm>
        <a:graphic>
          <a:graphicData uri="http://schemas.openxmlformats.org/drawingml/2006/table">
            <a:tbl>
              <a:tblPr>
                <a:noFill/>
                <a:tableStyleId>{D54668C0-BE3F-46A0-8B2B-301ED11A7C95}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6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HOST_PORT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 on your system (Laptop/Server)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CONTAINER_PORT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 where app runs inside container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EX#1:</a:t>
            </a:r>
            <a:endParaRPr/>
          </a:p>
        </p:txBody>
      </p:sp>
      <p:sp>
        <p:nvSpPr>
          <p:cNvPr id="237" name="Google Shape;237;p38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–p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nginx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no port mapping done here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609600" y="3121025"/>
            <a:ext cx="52355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opening browser: But it is  Not accessible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244" name="Google Shape;244;p39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try to Run Nginx with -p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-p 8080:80 nginx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internally?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 → localhost:8080 → Docker Host → Container:80 → Nginx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250" name="Google Shape;250;p40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-d -p 3307:3306 --name mysql-test –e MYSQL_ROOT_PASSWORD=root123  mysql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docker exec -it mysql-test bash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mysql -h 127.0.0.1 -P 3306 -u root –p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What’s running?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57" name="Google Shape;257;p41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216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 lists all the docker containers are running with container details.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ps</a:t>
            </a:r>
            <a:endParaRPr/>
          </a:p>
        </p:txBody>
      </p:sp>
      <p:pic>
        <p:nvPicPr>
          <p:cNvPr id="258" name="Google Shape;258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4054475"/>
            <a:ext cx="8429625" cy="158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#1:</a:t>
            </a:r>
            <a:endParaRPr/>
          </a:p>
        </p:txBody>
      </p:sp>
      <p:sp>
        <p:nvSpPr>
          <p:cNvPr id="264" name="Google Shape;264;p42"/>
          <p:cNvSpPr txBox="1">
            <a:spLocks noGrp="1"/>
          </p:cNvSpPr>
          <p:nvPr>
            <p:ph type="body" idx="1"/>
          </p:nvPr>
        </p:nvSpPr>
        <p:spPr>
          <a:xfrm>
            <a:off x="107950" y="908050"/>
            <a:ext cx="8807450" cy="526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Arial"/>
              <a:buChar char="●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 Ubuntu container</a:t>
            </a:r>
            <a:endParaRPr/>
          </a:p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Arial"/>
              <a:buChar char="●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-e COLLEGE=CSE</a:t>
            </a:r>
            <a:endParaRPr sz="6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Arial"/>
              <a:buChar char="●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echo $COLLEGE</a:t>
            </a:r>
            <a:endParaRPr sz="6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857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350"/>
              <a:buFont typeface="Arial"/>
              <a:buChar char="●"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Stop container → variable disappears</a:t>
            </a:r>
            <a:endParaRPr/>
          </a:p>
        </p:txBody>
      </p:sp>
      <p:sp>
        <p:nvSpPr>
          <p:cNvPr id="265" name="Google Shape;265;p42"/>
          <p:cNvSpPr txBox="1"/>
          <p:nvPr/>
        </p:nvSpPr>
        <p:spPr>
          <a:xfrm>
            <a:off x="1187450" y="1412875"/>
            <a:ext cx="5976937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Ubuntu container</a:t>
            </a:r>
            <a:endParaRPr/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</a:t>
            </a:r>
            <a:r>
              <a:rPr lang="en-US" sz="1800" b="0" i="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-e COLLEGE=CSE</a:t>
            </a:r>
            <a:endParaRPr sz="11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 </a:t>
            </a:r>
            <a:r>
              <a:rPr lang="en-US" sz="2000" b="0" i="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echo $COLLEGE</a:t>
            </a:r>
            <a:endParaRPr sz="1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Stop container  then check what happened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 -a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71" name="Google Shape;271;p43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7891462" cy="159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list all the docker containers running/exited/stopped with container details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ps -a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2" name="Google Shape;27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5" y="3429000"/>
            <a:ext cx="7567612" cy="3071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exec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78" name="Google Shape;278;p44"/>
          <p:cNvSpPr txBox="1">
            <a:spLocks noGrp="1"/>
          </p:cNvSpPr>
          <p:nvPr>
            <p:ph type="body" idx="1"/>
          </p:nvPr>
        </p:nvSpPr>
        <p:spPr>
          <a:xfrm>
            <a:off x="0" y="928687"/>
            <a:ext cx="8915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docker container and run commands inside the container in bash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b="1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 exec  -it  09ca6feb6efc bash/env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09ca6feb6efc --- it is Id of the container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4312" y="3643312"/>
            <a:ext cx="857250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Removing container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85" name="Google Shape;285;p45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294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 docker container with container id mentioned in the command.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$ docker  rm  9b6343d3b5a0 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the below command to check if the container got removed or not.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</a:t>
            </a:r>
            <a:r>
              <a:rPr lang="en-US" sz="2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ps -a</a:t>
            </a:r>
            <a:endParaRPr/>
          </a:p>
        </p:txBody>
      </p:sp>
      <p:pic>
        <p:nvPicPr>
          <p:cNvPr id="286" name="Google Shape;286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062" y="4429125"/>
            <a:ext cx="8501062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Removing image</a:t>
            </a:r>
            <a:b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292" name="Google Shape;292;p46"/>
          <p:cNvSpPr txBox="1">
            <a:spLocks noGrp="1"/>
          </p:cNvSpPr>
          <p:nvPr>
            <p:ph type="body" idx="1"/>
          </p:nvPr>
        </p:nvSpPr>
        <p:spPr>
          <a:xfrm>
            <a:off x="214312" y="857250"/>
            <a:ext cx="8701087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the docker image with the docker image id mentioned in the command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$ docker rmi fce289e99eb9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5812" y="2214562"/>
            <a:ext cx="77057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..contd..</a:t>
            </a:r>
            <a:endParaRPr/>
          </a:p>
        </p:txBody>
      </p:sp>
      <p:sp>
        <p:nvSpPr>
          <p:cNvPr id="299" name="Google Shape;299;p47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remove the image forcefully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 docker rmi –f  &lt;image id&gt;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rmi -f 92fa43a2ff60503fdf250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Untagged: httpd:latest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Untagged: httpd@sha256:7765977cf2063fec486b63ddea574faf8fbed285f2b17020fa7ef70a4926cdec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Deleted: sha256:92fa43a2ff60503fdf250ef0a16d4170aa2a47c4b5a60d427724283543a8792a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>
            <a:spLocks noGrp="1"/>
          </p:cNvSpPr>
          <p:nvPr>
            <p:ph type="title"/>
          </p:nvPr>
        </p:nvSpPr>
        <p:spPr>
          <a:xfrm>
            <a:off x="152400" y="100012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Questions on Basic Docker Commands</a:t>
            </a:r>
            <a:endParaRPr/>
          </a:p>
        </p:txBody>
      </p:sp>
      <p:sp>
        <p:nvSpPr>
          <p:cNvPr id="305" name="Google Shape;305;p48"/>
          <p:cNvSpPr txBox="1">
            <a:spLocks noGrp="1"/>
          </p:cNvSpPr>
          <p:nvPr>
            <p:ph type="body" idx="1"/>
          </p:nvPr>
        </p:nvSpPr>
        <p:spPr>
          <a:xfrm>
            <a:off x="571500" y="1128712"/>
            <a:ext cx="8305800" cy="151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 Docker container named “DB-app" based on the “mongodb" image, and expose port 80 on the host to port 8082 on the container?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48"/>
          <p:cNvSpPr txBox="1"/>
          <p:nvPr/>
        </p:nvSpPr>
        <p:spPr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 a Docker container based on the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nginx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image, exposing port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8080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 host to port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 container. Set an environment variable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NGINX_PORT=8080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inside the container and start the container interactively. </a:t>
            </a:r>
            <a:endParaRPr/>
          </a:p>
        </p:txBody>
      </p:sp>
      <p:sp>
        <p:nvSpPr>
          <p:cNvPr id="307" name="Google Shape;307;p48"/>
          <p:cNvSpPr txBox="1"/>
          <p:nvPr/>
        </p:nvSpPr>
        <p:spPr>
          <a:xfrm>
            <a:off x="-36512" y="29241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 a Docker container based on the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nginx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image, exposing port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8080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 host to port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on the container. Set an environment variable </a:t>
            </a:r>
            <a:r>
              <a:rPr lang="en-US" sz="1000" b="0" i="0" u="non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NGINX_PORT=8080</a:t>
            </a:r>
            <a:r>
              <a:rPr lang="en-US" sz="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inside the container and start the container interactively. </a:t>
            </a:r>
            <a:endParaRPr/>
          </a:p>
        </p:txBody>
      </p:sp>
      <p:pic>
        <p:nvPicPr>
          <p:cNvPr id="308" name="Google Shape;30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275" y="2730500"/>
            <a:ext cx="7791450" cy="13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14" name="Google Shape;314;p49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How would you use the docker run command with -it, -e, -v, and --name to:	•	Set an environment variable APP_ENV=production.	•	Bind a local directory /app/data to /data inside the container.	•	Name the container my_app.	•	Start an interactive terminal in an image called my_image?	•	Write the full command for the scenario above.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19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container</a:t>
            </a: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commands:</a:t>
            </a:r>
            <a:b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20" name="Google Shape;320;p50"/>
          <p:cNvSpPr txBox="1">
            <a:spLocks noGrp="1"/>
          </p:cNvSpPr>
          <p:nvPr>
            <p:ph type="body" idx="1"/>
          </p:nvPr>
        </p:nvSpPr>
        <p:spPr>
          <a:xfrm>
            <a:off x="323850" y="908050"/>
            <a:ext cx="8591550" cy="526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Container Lifecycle Management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(creates and starts it)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-d -p 80:80 --name my_container nginx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a stopped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start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a running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stop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Restart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restart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Pause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pause &lt;container_id/name&gt;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26" name="Google Shape;326;p51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…contd….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Unpause a paused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unpause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Kill a container (force stop)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kill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rm &lt;container_id/name&gt;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all stopped containers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container prune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Listing and Inspecting Containers</a:t>
            </a:r>
            <a:b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32" name="Google Shape;332;p52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533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all running containers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ps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all containers (including stopped ones)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ps -a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detailed info about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inspect &lt;container_id/name&gt;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resource usage stats of a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stats &lt;container_id/name&gt;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container logs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logs &lt;container_id/name&gt;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 logs in real-time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logs -f &lt;container_id/name&gt;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1125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Container Interaction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338" name="Google Shape;338;p53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a command inside a running container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exec -it &lt;container_id/name&gt; &lt;command&gt;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 to a running container's interactive shell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attach &lt;container_id/name&gt;</a:t>
            </a:r>
            <a:endParaRPr sz="32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files between container and host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container to host: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cp &lt;container_id&gt;:&lt;container_path&gt; &lt;host_path&gt;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host to container: 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cp &lt;host_path&gt; &lt;container_id&gt;:&lt;container_path&gt;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E.g: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questions:</a:t>
            </a:r>
            <a:endParaRPr/>
          </a:p>
        </p:txBody>
      </p:sp>
      <p:sp>
        <p:nvSpPr>
          <p:cNvPr id="344" name="Google Shape;344;p54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You need to start a new container using the nginx image while setting an environment variable ENV_MODE=production. Write the docker run command to achieve this.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You have a running container named my_app, but it's not behaving as expected. You want to check its logs to debug any errors. Write the command to view its logs and follow new log entries in real-time.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 container named web_server was stopped. Write the command to:a) Start the container again.b) Stop the container when needed.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on Volumes</a:t>
            </a:r>
            <a:endParaRPr/>
          </a:p>
        </p:txBody>
      </p:sp>
      <p:sp>
        <p:nvSpPr>
          <p:cNvPr id="350" name="Google Shape;350;p55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commands used to create,inpect,verify , delete/remove the volumes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volume create &lt;volume name&gt;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volume ls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volume inspect mydata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-d -v &lt;volumename&gt;:&lt;path where to store in image&gt;  --name &lt;containername&gt; &lt;imagename&gt;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To Store Data in a Volume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-it -v &lt;source&gt;:&lt;path of destination&gt;  &lt;image name&gt; 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inside the container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echo “msg or data" &gt; /app/data/filename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62" name="Google Shape;362;p57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Verify Data Persistence: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another container using the same volume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run -it -v &lt;source&gt;:&lt;path of destination&gt;  &lt;image name&gt; sh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 &lt;path of file&gt;</a:t>
            </a:r>
            <a:endParaRPr/>
          </a:p>
          <a:p>
            <a:pPr marL="342900" marR="0" lvl="0" indent="-228600" algn="l" rtl="0"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68" name="Google Shape;368;p58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Remove a Volume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volume rm &lt;volume name&gt;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Delete All Unused Volumes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 volume prune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74" name="Google Shape;374;p59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7588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>
              <a:solidFill>
                <a:schemeClr val="dk1"/>
              </a:solidFill>
            </a:endParaRPr>
          </a:p>
        </p:txBody>
      </p:sp>
      <p:sp>
        <p:nvSpPr>
          <p:cNvPr id="380" name="Google Shape;380;p60"/>
          <p:cNvSpPr txBox="1">
            <a:spLocks noGrp="1"/>
          </p:cNvSpPr>
          <p:nvPr>
            <p:ph type="body" idx="1"/>
          </p:nvPr>
        </p:nvSpPr>
        <p:spPr>
          <a:xfrm>
            <a:off x="609600" y="1266825"/>
            <a:ext cx="8305800" cy="490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A50021"/>
              </a:buClr>
              <a:buSzPts val="1800"/>
              <a:buFont typeface="Arial"/>
              <a:buNone/>
            </a:pPr>
            <a:endParaRPr sz="2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heme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">
      <a:dk1>
        <a:srgbClr val="001932"/>
      </a:dk1>
      <a:lt1>
        <a:srgbClr val="FFFFFF"/>
      </a:lt1>
      <a:dk2>
        <a:srgbClr val="2181B7"/>
      </a:dk2>
      <a:lt2>
        <a:srgbClr val="CCFFFF"/>
      </a:lt2>
      <a:accent1>
        <a:srgbClr val="99FFCC"/>
      </a:accent1>
      <a:accent2>
        <a:srgbClr val="01B0FF"/>
      </a:accent2>
      <a:accent3>
        <a:srgbClr val="ABC1D8"/>
      </a:accent3>
      <a:accent4>
        <a:srgbClr val="DADADA"/>
      </a:accent4>
      <a:accent5>
        <a:srgbClr val="CAFFE2"/>
      </a:accent5>
      <a:accent6>
        <a:srgbClr val="019FE7"/>
      </a:accent6>
      <a:hlink>
        <a:srgbClr val="FFFF99"/>
      </a:hlink>
      <a:folHlink>
        <a:srgbClr val="1C6D9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2328</Words>
  <Application>Microsoft Office PowerPoint</Application>
  <PresentationFormat>On-screen Show (4:3)</PresentationFormat>
  <Paragraphs>325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Noto Sans Symbols</vt:lpstr>
      <vt:lpstr>Arial</vt:lpstr>
      <vt:lpstr>Times New Roman</vt:lpstr>
      <vt:lpstr>Courier New</vt:lpstr>
      <vt:lpstr>Arimo</vt:lpstr>
      <vt:lpstr>Arial Narrow</vt:lpstr>
      <vt:lpstr>2_Theme1</vt:lpstr>
      <vt:lpstr>Theme1</vt:lpstr>
      <vt:lpstr>1_Theme1</vt:lpstr>
      <vt:lpstr>         Basic Docker commands</vt:lpstr>
      <vt:lpstr>PowerPoint Presentation</vt:lpstr>
      <vt:lpstr>2. Docker info </vt:lpstr>
      <vt:lpstr>3. Checking History . </vt:lpstr>
      <vt:lpstr>4 . Downloading Image </vt:lpstr>
      <vt:lpstr>5. Images </vt:lpstr>
      <vt:lpstr>6.RUN</vt:lpstr>
      <vt:lpstr>     Options Available for executing Docker Run Command </vt:lpstr>
      <vt:lpstr>1st Example : Running a Simple Image: </vt:lpstr>
      <vt:lpstr>2nd example</vt:lpstr>
      <vt:lpstr>What are Environment Variables</vt:lpstr>
      <vt:lpstr>Need  of environment variables in Docker</vt:lpstr>
      <vt:lpstr>3rd Example : Setting Environment: </vt:lpstr>
      <vt:lpstr>PowerPoint Presentation</vt:lpstr>
      <vt:lpstr>Multiple Environment Variables</vt:lpstr>
      <vt:lpstr>Next is : Passing Environment Variable from Host System</vt:lpstr>
      <vt:lpstr>Another way : Using --env-file (Clean &amp; Professional Way)</vt:lpstr>
      <vt:lpstr>4th Example</vt:lpstr>
      <vt:lpstr>PowerPoint Presentation</vt:lpstr>
      <vt:lpstr>-p optional flag in run command</vt:lpstr>
      <vt:lpstr>Syntax of –p </vt:lpstr>
      <vt:lpstr>EX#1:</vt:lpstr>
      <vt:lpstr>PowerPoint Presentation</vt:lpstr>
      <vt:lpstr>PowerPoint Presentation</vt:lpstr>
      <vt:lpstr>7 What’s running? </vt:lpstr>
      <vt:lpstr>TASK #1:</vt:lpstr>
      <vt:lpstr>8. ps -a </vt:lpstr>
      <vt:lpstr>9. exec </vt:lpstr>
      <vt:lpstr>10. Removing container </vt:lpstr>
      <vt:lpstr>11. Removing image </vt:lpstr>
      <vt:lpstr>..contd..</vt:lpstr>
      <vt:lpstr>Practice Questions on Basic Docker Commands</vt:lpstr>
      <vt:lpstr>PowerPoint Presentation</vt:lpstr>
      <vt:lpstr>Docker container commands: </vt:lpstr>
      <vt:lpstr>PowerPoint Presentation</vt:lpstr>
      <vt:lpstr>2. Listing and Inspecting Containers </vt:lpstr>
      <vt:lpstr>3. Container Interaction </vt:lpstr>
      <vt:lpstr>Practice questions:</vt:lpstr>
      <vt:lpstr>Work on Volumes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Jatinder Kaur</dc:creator>
  <cp:lastModifiedBy>Jatinder Kaur</cp:lastModifiedBy>
  <cp:revision>1</cp:revision>
  <dcterms:modified xsi:type="dcterms:W3CDTF">2026-04-03T07:19:53Z</dcterms:modified>
</cp:coreProperties>
</file>